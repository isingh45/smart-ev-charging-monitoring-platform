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Urbanist Medium"/>
      <p:regular r:id="rId18"/>
      <p:bold r:id="rId19"/>
      <p:italic r:id="rId20"/>
      <p:boldItalic r:id="rId21"/>
    </p:embeddedFont>
    <p:embeddedFont>
      <p:font typeface="Urbanist"/>
      <p:regular r:id="rId22"/>
      <p:bold r:id="rId23"/>
      <p:italic r:id="rId24"/>
      <p:boldItalic r:id="rId25"/>
    </p:embeddedFont>
    <p:embeddedFont>
      <p:font typeface="JetBrains Mon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Medium-italic.fntdata"/><Relationship Id="rId22" Type="http://schemas.openxmlformats.org/officeDocument/2006/relationships/font" Target="fonts/Urbanist-regular.fntdata"/><Relationship Id="rId21" Type="http://schemas.openxmlformats.org/officeDocument/2006/relationships/font" Target="fonts/UrbanistMedium-boldItalic.fntdata"/><Relationship Id="rId24" Type="http://schemas.openxmlformats.org/officeDocument/2006/relationships/font" Target="fonts/Urbanist-italic.fntdata"/><Relationship Id="rId23" Type="http://schemas.openxmlformats.org/officeDocument/2006/relationships/font" Target="fonts/Urbanis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JetBrainsMono-regular.fntdata"/><Relationship Id="rId25" Type="http://schemas.openxmlformats.org/officeDocument/2006/relationships/font" Target="fonts/Urbanist-boldItalic.fntdata"/><Relationship Id="rId28" Type="http://schemas.openxmlformats.org/officeDocument/2006/relationships/font" Target="fonts/JetBrainsMono-italic.fntdata"/><Relationship Id="rId27" Type="http://schemas.openxmlformats.org/officeDocument/2006/relationships/font" Target="fonts/JetBrains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JetBrainsMon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UrbanistMedium-bold.fntdata"/><Relationship Id="rId18" Type="http://schemas.openxmlformats.org/officeDocument/2006/relationships/font" Target="fonts/Urbanist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b3c7ae4e9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b3c7ae4e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5.png"/><Relationship Id="rId5" Type="http://schemas.openxmlformats.org/officeDocument/2006/relationships/image" Target="../media/image16.png"/><Relationship Id="rId6" Type="http://schemas.openxmlformats.org/officeDocument/2006/relationships/image" Target="../media/image1.png"/><Relationship Id="rId7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10.png"/><Relationship Id="rId8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05275" y="1012500"/>
            <a:ext cx="115815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Real-Time EV Charging Monitoring System (Local Cloud Simulation) 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3476625"/>
            <a:ext cx="11030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81025" y="4143375"/>
            <a:ext cx="11030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Presented by: Sukhpinder Singh &amp; </a:t>
            </a:r>
            <a:r>
              <a:rPr lang="en-US" sz="15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Inderpal Singh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81025" y="4619625"/>
            <a:ext cx="11029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CS 623 Final Project Presentation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5619750" y="2586037"/>
            <a:ext cx="952500" cy="571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305276" y="2928937"/>
            <a:ext cx="11581447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Problem Statement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81025" y="4081462"/>
            <a:ext cx="110301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Urbanist"/>
              <a:buChar char="●"/>
            </a:pP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No real-time station visibility</a:t>
            </a:r>
            <a:endParaRPr sz="15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Urbanist"/>
              <a:buChar char="●"/>
            </a:pP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Users choose inefficient stations</a:t>
            </a:r>
            <a:endParaRPr sz="15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Urbanist"/>
              <a:buChar char="●"/>
            </a:pP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No coordination between stations</a:t>
            </a:r>
            <a:endParaRPr sz="15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14475"/>
            <a:ext cx="5419725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1514475"/>
            <a:ext cx="5419725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857625"/>
            <a:ext cx="5419725" cy="1866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91250" y="3857625"/>
            <a:ext cx="5419725" cy="186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876300" y="1809750"/>
            <a:ext cx="507063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Edge Infrastructure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76300" y="2324100"/>
            <a:ext cx="48291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Docker containers simulate EV charging stations</a:t>
            </a:r>
            <a:endParaRPr sz="15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Containernet creates a virtual network</a:t>
            </a:r>
            <a:endParaRPr sz="15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Python generates real-time telemetry (battery, voltage)</a:t>
            </a:r>
            <a:endParaRPr sz="15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6486525" y="1809750"/>
            <a:ext cx="507063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Data Orchestration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486525" y="2324100"/>
            <a:ext cx="48291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Bash script extracts data from containers</a:t>
            </a:r>
            <a:endParaRPr sz="15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Merges station data into one JSON file</a:t>
            </a:r>
            <a:endParaRPr sz="15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Updates every 2 seconds for real-time flow</a:t>
            </a:r>
            <a:endParaRPr sz="15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876300" y="4152900"/>
            <a:ext cx="507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API </a:t>
            </a:r>
            <a:r>
              <a:rPr b="1" lang="en-US" sz="2100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Layer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76300" y="4667250"/>
            <a:ext cx="4829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Char char="●"/>
            </a:pPr>
            <a:r>
              <a:rPr lang="en-US">
                <a:solidFill>
                  <a:srgbClr val="94A3B8"/>
                </a:solidFill>
              </a:rPr>
              <a:t>json-server converts JSON file into REST API</a:t>
            </a:r>
            <a:endParaRPr>
              <a:solidFill>
                <a:srgbClr val="94A3B8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Char char="●"/>
            </a:pPr>
            <a:r>
              <a:rPr lang="en-US">
                <a:solidFill>
                  <a:srgbClr val="94A3B8"/>
                </a:solidFill>
              </a:rPr>
              <a:t>Runs on localhost:5000</a:t>
            </a:r>
            <a:endParaRPr>
              <a:solidFill>
                <a:srgbClr val="94A3B8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Char char="●"/>
            </a:pPr>
            <a:r>
              <a:rPr lang="en-US">
                <a:solidFill>
                  <a:srgbClr val="94A3B8"/>
                </a:solidFill>
              </a:rPr>
              <a:t>Provides real-time data to frontend</a:t>
            </a:r>
            <a:endParaRPr>
              <a:solidFill>
                <a:srgbClr val="94A3B8"/>
              </a:solidFill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6486525" y="4005263"/>
            <a:ext cx="507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Application Layer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486525" y="4410750"/>
            <a:ext cx="48291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React displays live station data</a:t>
            </a:r>
            <a:endParaRPr sz="15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Shows battery %, voltage, and status</a:t>
            </a:r>
            <a:endParaRPr sz="15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Updates every 2 seconds</a:t>
            </a:r>
            <a:endParaRPr sz="15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Recommends best station</a:t>
            </a:r>
            <a:endParaRPr sz="15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771525" y="581025"/>
            <a:ext cx="1083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System Architecture (Local Cloud Simulation)</a:t>
            </a:r>
            <a:r>
              <a:rPr lang="en-US" sz="30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 sz="30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581025" y="581025"/>
            <a:ext cx="76200" cy="5524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121500" y="175500"/>
            <a:ext cx="10759500" cy="9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System Components </a:t>
            </a:r>
            <a:endParaRPr sz="36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432000" y="1228500"/>
            <a:ext cx="10543500" cy="46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Containernet → network simulation</a:t>
            </a:r>
            <a:endParaRPr sz="25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Docker → EV stations</a:t>
            </a:r>
            <a:endParaRPr sz="25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Python → telemetry generation</a:t>
            </a:r>
            <a:endParaRPr sz="25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Bash → data pipeline</a:t>
            </a:r>
            <a:endParaRPr sz="25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JSON → data storage</a:t>
            </a:r>
            <a:endParaRPr sz="25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json-server → API layer</a:t>
            </a:r>
            <a:endParaRPr sz="25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React → frontend dashboard</a:t>
            </a:r>
            <a:endParaRPr sz="25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945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/>
        </p:nvSpPr>
        <p:spPr>
          <a:xfrm>
            <a:off x="457463" y="237562"/>
            <a:ext cx="5190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lang="en-US" sz="3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Real-Time Data Flow</a:t>
            </a:r>
            <a:r>
              <a:rPr lang="en-US" sz="3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 sz="3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581025" y="2386012"/>
            <a:ext cx="5190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581025" y="2795587"/>
            <a:ext cx="4943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581025" y="3748087"/>
            <a:ext cx="4943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581025" y="4700587"/>
            <a:ext cx="4943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3450" y="8"/>
            <a:ext cx="6118549" cy="621179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661500" y="1039500"/>
            <a:ext cx="5190600" cy="50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Step 1: Data Generation</a:t>
            </a:r>
            <a:endParaRPr b="1" sz="1300">
              <a:solidFill>
                <a:srgbClr val="F8FAFC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Urbanist"/>
              <a:buChar char="●"/>
            </a:pPr>
            <a:r>
              <a:rPr lang="en-US" sz="13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EV stations (Docker containers) generate telemetry</a:t>
            </a:r>
            <a:endParaRPr sz="1300">
              <a:solidFill>
                <a:srgbClr val="F8FAFC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Urbanist"/>
              <a:buChar char="●"/>
            </a:pPr>
            <a:r>
              <a:rPr lang="en-US" sz="13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Includes battery %, voltage, status</a:t>
            </a:r>
            <a:endParaRPr sz="1300">
              <a:solidFill>
                <a:srgbClr val="F8FAFC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Step 2: Data Processing</a:t>
            </a:r>
            <a:endParaRPr b="1" sz="1300">
              <a:solidFill>
                <a:srgbClr val="F8FAFC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Urbanist"/>
              <a:buChar char="●"/>
            </a:pPr>
            <a:r>
              <a:rPr lang="en-US" sz="13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Bash pipeline extracts data from containers</a:t>
            </a:r>
            <a:endParaRPr sz="1300">
              <a:solidFill>
                <a:srgbClr val="F8FAFC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Urbanist"/>
              <a:buChar char="●"/>
            </a:pPr>
            <a:r>
              <a:rPr lang="en-US" sz="13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Merges into a single JSON file</a:t>
            </a:r>
            <a:endParaRPr sz="1300">
              <a:solidFill>
                <a:srgbClr val="F8FAFC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Step 3: Data Exposure</a:t>
            </a:r>
            <a:endParaRPr b="1" sz="1300">
              <a:solidFill>
                <a:srgbClr val="F8FAFC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Urbanist"/>
              <a:buChar char="●"/>
            </a:pPr>
            <a:r>
              <a:rPr lang="en-US" sz="13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json-server converts JSON into REST API</a:t>
            </a:r>
            <a:endParaRPr sz="1300">
              <a:solidFill>
                <a:srgbClr val="F8FAFC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Urbanist"/>
              <a:buChar char="●"/>
            </a:pPr>
            <a:r>
              <a:rPr lang="en-US" sz="13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Runs on localhost:5000</a:t>
            </a:r>
            <a:endParaRPr sz="1300">
              <a:solidFill>
                <a:srgbClr val="F8FAFC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Step 4: Data Visualization</a:t>
            </a:r>
            <a:endParaRPr b="1" sz="1300">
              <a:solidFill>
                <a:srgbClr val="F8FAFC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Urbanist"/>
              <a:buChar char="●"/>
            </a:pPr>
            <a:r>
              <a:rPr lang="en-US" sz="13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React dashboard fetches API data</a:t>
            </a:r>
            <a:endParaRPr sz="1300">
              <a:solidFill>
                <a:srgbClr val="F8FAFC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Urbanist"/>
              <a:buChar char="●"/>
            </a:pPr>
            <a:r>
              <a:rPr lang="en-US" sz="13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Updates every 2 seconds</a:t>
            </a:r>
            <a:endParaRPr sz="1300">
              <a:solidFill>
                <a:srgbClr val="F8FAFC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238250"/>
            <a:ext cx="5276850" cy="531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581025" y="1238250"/>
            <a:ext cx="554069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Docker Station Nodes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581025" y="1647825"/>
            <a:ext cx="52768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We utilized Containernet to virtualize the physical environment. Each station is an isolated container, not just a script variable.</a:t>
            </a:r>
            <a:endParaRPr/>
          </a:p>
        </p:txBody>
      </p:sp>
      <p:pic>
        <p:nvPicPr>
          <p:cNvPr descr="image.png" id="143" name="Google Shape;14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247775"/>
            <a:ext cx="5257800" cy="529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 txBox="1"/>
          <p:nvPr/>
        </p:nvSpPr>
        <p:spPr>
          <a:xfrm>
            <a:off x="923925" y="2409825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962025" y="2409825"/>
            <a:ext cx="48958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Real-time Python telemetry generation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923925" y="283845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962025" y="2838450"/>
            <a:ext cx="48958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Isolated process management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923925" y="3267075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962025" y="3267075"/>
            <a:ext cx="4896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Simulated</a:t>
            </a: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network using Containernet 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771525" y="304800"/>
            <a:ext cx="5570696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Edge Infrastructure Layer</a:t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581025" y="304800"/>
            <a:ext cx="76200" cy="5524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/>
          <p:nvPr/>
        </p:nvSpPr>
        <p:spPr>
          <a:xfrm>
            <a:off x="5619750" y="2586037"/>
            <a:ext cx="952500" cy="571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305276" y="2928937"/>
            <a:ext cx="11581447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Backend &amp; Cloud API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581025" y="4081462"/>
            <a:ext cx="11029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Hosting and managing the data lifecycle.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14475"/>
            <a:ext cx="3486150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1514475"/>
            <a:ext cx="3486150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1514475"/>
            <a:ext cx="348615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0"/>
          <p:cNvSpPr txBox="1"/>
          <p:nvPr/>
        </p:nvSpPr>
        <p:spPr>
          <a:xfrm>
            <a:off x="893921" y="2667000"/>
            <a:ext cx="286035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Cloud Service</a:t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962025" y="3076575"/>
            <a:ext cx="27243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json-server exposes JSON as REST API</a:t>
            </a:r>
            <a:endParaRPr sz="15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Runs on localhost:5000</a:t>
            </a:r>
            <a:endParaRPr sz="15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4665821" y="2667000"/>
            <a:ext cx="286035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Scalable Design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4733925" y="3076575"/>
            <a:ext cx="2724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Standard HTTP protocols allow this backend to transition to AWS or GCP with zero changes to frontend logic.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8437721" y="2667000"/>
            <a:ext cx="286035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Data Persistence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8505825" y="3076575"/>
            <a:ext cx="27243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JSON file stores real-time telemetry</a:t>
            </a:r>
            <a:endParaRPr sz="15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Updated every 2 seconds</a:t>
            </a:r>
            <a:endParaRPr sz="15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Urbanist"/>
              <a:buChar char="●"/>
            </a:pPr>
            <a:r>
              <a:t/>
            </a:r>
            <a:endParaRPr sz="15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image.png" id="174" name="Google Shape;17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5975" y="193357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875" y="193357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58350" y="1933575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771525" y="581025"/>
            <a:ext cx="582072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API Gateway &amp; Scalability</a:t>
            </a:r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581025" y="581025"/>
            <a:ext cx="76200" cy="5524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514475"/>
            <a:ext cx="52768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 txBox="1"/>
          <p:nvPr/>
        </p:nvSpPr>
        <p:spPr>
          <a:xfrm>
            <a:off x="581025" y="1514475"/>
            <a:ext cx="554069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React &amp; Recharts UI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581025" y="1924050"/>
            <a:ext cx="52768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frontend provides a real-time window into the charging network's health and grid stability.</a:t>
            </a:r>
            <a:endParaRPr/>
          </a:p>
        </p:txBody>
      </p:sp>
      <p:pic>
        <p:nvPicPr>
          <p:cNvPr descr="image.png" id="187" name="Google Shape;18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524000"/>
            <a:ext cx="525780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/>
          <p:nvPr/>
        </p:nvSpPr>
        <p:spPr>
          <a:xfrm>
            <a:off x="923925" y="268605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962025" y="2686050"/>
            <a:ext cx="48958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Live 2-second polling interval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923925" y="3114675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962025" y="3114675"/>
            <a:ext cx="48958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Time-series Voltage Trend graphs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923925" y="354330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962025" y="3543300"/>
            <a:ext cx="48958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Dynamic visual status encoding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771525" y="581025"/>
            <a:ext cx="546068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Application Layer Details</a:t>
            </a:r>
            <a:endParaRPr/>
          </a:p>
        </p:txBody>
      </p:sp>
      <p:sp>
        <p:nvSpPr>
          <p:cNvPr id="195" name="Google Shape;195;p21"/>
          <p:cNvSpPr/>
          <p:nvPr/>
        </p:nvSpPr>
        <p:spPr>
          <a:xfrm>
            <a:off x="581025" y="581025"/>
            <a:ext cx="76200" cy="5524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2"/>
          <p:cNvSpPr txBox="1"/>
          <p:nvPr/>
        </p:nvSpPr>
        <p:spPr>
          <a:xfrm>
            <a:off x="581025" y="1771650"/>
            <a:ext cx="3727102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20%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581025" y="3295650"/>
            <a:ext cx="372710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Critical Threshold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4689127" y="1514475"/>
            <a:ext cx="726778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Recommendation Logic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4689127" y="1924050"/>
            <a:ext cx="692169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"Best Station" algorithm evaluates health metrics to guide users efficiently: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4689127" y="2400300"/>
            <a:ext cx="692169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Green: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High Battery % + Stable Voltage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4689127" y="2876550"/>
            <a:ext cx="692169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Busy: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Low Voltage Grid Fluctuations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4689127" y="3352800"/>
            <a:ext cx="692169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Unavailable: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Battery dropped below 20%</a:t>
            </a:r>
            <a:endParaRPr/>
          </a:p>
        </p:txBody>
      </p:sp>
      <p:pic>
        <p:nvPicPr>
          <p:cNvPr descr="image.png" id="208" name="Google Shape;20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9127" y="244792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9127" y="292417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9127" y="3400425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/>
        </p:nvSpPr>
        <p:spPr>
          <a:xfrm>
            <a:off x="771525" y="581025"/>
            <a:ext cx="4770596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Intelligence &amp; Scoring</a:t>
            </a:r>
            <a:endParaRPr/>
          </a:p>
        </p:txBody>
      </p:sp>
      <p:sp>
        <p:nvSpPr>
          <p:cNvPr id="212" name="Google Shape;212;p22"/>
          <p:cNvSpPr/>
          <p:nvPr/>
        </p:nvSpPr>
        <p:spPr>
          <a:xfrm>
            <a:off x="581025" y="581025"/>
            <a:ext cx="76200" cy="5524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3"/>
          <p:cNvSpPr/>
          <p:nvPr/>
        </p:nvSpPr>
        <p:spPr>
          <a:xfrm>
            <a:off x="581025" y="3038475"/>
            <a:ext cx="1102995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 txBox="1"/>
          <p:nvPr/>
        </p:nvSpPr>
        <p:spPr>
          <a:xfrm>
            <a:off x="612100" y="1990725"/>
            <a:ext cx="2695336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Terminal 1</a:t>
            </a:r>
            <a:endParaRPr/>
          </a:p>
        </p:txBody>
      </p:sp>
      <p:sp>
        <p:nvSpPr>
          <p:cNvPr id="220" name="Google Shape;220;p23"/>
          <p:cNvSpPr/>
          <p:nvPr/>
        </p:nvSpPr>
        <p:spPr>
          <a:xfrm>
            <a:off x="1816893" y="2438400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22D3EE"/>
          </a:solidFill>
          <a:ln cap="flat" cmpd="sng" w="571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3"/>
          <p:cNvSpPr txBox="1"/>
          <p:nvPr/>
        </p:nvSpPr>
        <p:spPr>
          <a:xfrm>
            <a:off x="676275" y="2914650"/>
            <a:ext cx="256698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Launching the SDN Topology &amp; Python Edge Simulation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3369587" y="1990725"/>
            <a:ext cx="2695336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Terminal 2</a:t>
            </a:r>
            <a:endParaRPr/>
          </a:p>
        </p:txBody>
      </p:sp>
      <p:sp>
        <p:nvSpPr>
          <p:cNvPr id="223" name="Google Shape;223;p23"/>
          <p:cNvSpPr/>
          <p:nvPr/>
        </p:nvSpPr>
        <p:spPr>
          <a:xfrm>
            <a:off x="4574381" y="2438400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22D3EE"/>
          </a:solidFill>
          <a:ln cap="flat" cmpd="sng" w="571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3"/>
          <p:cNvSpPr txBox="1"/>
          <p:nvPr/>
        </p:nvSpPr>
        <p:spPr>
          <a:xfrm>
            <a:off x="3433762" y="2914650"/>
            <a:ext cx="256698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Starting the API Gateway (Cloud Web Service)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6127075" y="1990725"/>
            <a:ext cx="2695336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Terminal 3</a:t>
            </a:r>
            <a:endParaRPr/>
          </a:p>
        </p:txBody>
      </p:sp>
      <p:sp>
        <p:nvSpPr>
          <p:cNvPr id="226" name="Google Shape;226;p23"/>
          <p:cNvSpPr/>
          <p:nvPr/>
        </p:nvSpPr>
        <p:spPr>
          <a:xfrm>
            <a:off x="7331868" y="2438400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22D3EE"/>
          </a:solidFill>
          <a:ln cap="flat" cmpd="sng" w="571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 txBox="1"/>
          <p:nvPr/>
        </p:nvSpPr>
        <p:spPr>
          <a:xfrm>
            <a:off x="6191250" y="2914650"/>
            <a:ext cx="256698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Executing the Data Sync Loop (Bash Pipeline)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8884562" y="1990725"/>
            <a:ext cx="2695336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Dashboard</a:t>
            </a:r>
            <a:endParaRPr/>
          </a:p>
        </p:txBody>
      </p:sp>
      <p:sp>
        <p:nvSpPr>
          <p:cNvPr id="229" name="Google Shape;229;p23"/>
          <p:cNvSpPr/>
          <p:nvPr/>
        </p:nvSpPr>
        <p:spPr>
          <a:xfrm>
            <a:off x="10089356" y="2438400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22D3EE"/>
          </a:solidFill>
          <a:ln cap="flat" cmpd="sng" w="571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 txBox="1"/>
          <p:nvPr/>
        </p:nvSpPr>
        <p:spPr>
          <a:xfrm>
            <a:off x="8948737" y="2914650"/>
            <a:ext cx="256698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Live Monitoring in the React Web Interface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771525" y="581025"/>
            <a:ext cx="51806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Ubuntu Live Demo Flow</a:t>
            </a:r>
            <a:endParaRPr/>
          </a:p>
        </p:txBody>
      </p:sp>
      <p:sp>
        <p:nvSpPr>
          <p:cNvPr id="232" name="Google Shape;232;p23"/>
          <p:cNvSpPr/>
          <p:nvPr/>
        </p:nvSpPr>
        <p:spPr>
          <a:xfrm>
            <a:off x="581025" y="581025"/>
            <a:ext cx="76200" cy="5524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7" name="Google Shape;23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14475"/>
            <a:ext cx="5276850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514475"/>
            <a:ext cx="5276850" cy="2152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4"/>
          <p:cNvSpPr txBox="1"/>
          <p:nvPr/>
        </p:nvSpPr>
        <p:spPr>
          <a:xfrm>
            <a:off x="876300" y="1809750"/>
            <a:ext cx="492061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The Synchronization Challenge</a:t>
            </a:r>
            <a:endParaRPr/>
          </a:p>
        </p:txBody>
      </p:sp>
      <p:sp>
        <p:nvSpPr>
          <p:cNvPr id="241" name="Google Shape;241;p24"/>
          <p:cNvSpPr txBox="1"/>
          <p:nvPr/>
        </p:nvSpPr>
        <p:spPr>
          <a:xfrm>
            <a:off x="876300" y="2324100"/>
            <a:ext cx="46863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Managing file-locking between Docker's local logs and the API ingestor. We resolved this by implementing a temporary buffer system to prevent simulation crashes.</a:t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6629400" y="1809750"/>
            <a:ext cx="492061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Project Conclusion</a:t>
            </a:r>
            <a:endParaRPr/>
          </a:p>
        </p:txBody>
      </p:sp>
      <p:sp>
        <p:nvSpPr>
          <p:cNvPr id="243" name="Google Shape;243;p24"/>
          <p:cNvSpPr txBox="1"/>
          <p:nvPr/>
        </p:nvSpPr>
        <p:spPr>
          <a:xfrm>
            <a:off x="6629400" y="2324100"/>
            <a:ext cx="4686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We built a real-time EV monitoring system that simulates cloud architecture locally, integrating data pipeline, API, and frontend dashboard </a:t>
            </a:r>
            <a:endParaRPr/>
          </a:p>
        </p:txBody>
      </p:sp>
      <p:sp>
        <p:nvSpPr>
          <p:cNvPr id="244" name="Google Shape;244;p24"/>
          <p:cNvSpPr txBox="1"/>
          <p:nvPr/>
        </p:nvSpPr>
        <p:spPr>
          <a:xfrm>
            <a:off x="771525" y="581025"/>
            <a:ext cx="538067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Challenges &amp; Conclusion</a:t>
            </a:r>
            <a:endParaRPr/>
          </a:p>
        </p:txBody>
      </p:sp>
      <p:sp>
        <p:nvSpPr>
          <p:cNvPr id="245" name="Google Shape;245;p24"/>
          <p:cNvSpPr/>
          <p:nvPr/>
        </p:nvSpPr>
        <p:spPr>
          <a:xfrm>
            <a:off x="581025" y="581025"/>
            <a:ext cx="76200" cy="5524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6" name="Google Shape;24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965775"/>
            <a:ext cx="5276850" cy="2152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4"/>
          <p:cNvSpPr txBox="1"/>
          <p:nvPr/>
        </p:nvSpPr>
        <p:spPr>
          <a:xfrm>
            <a:off x="771525" y="4048125"/>
            <a:ext cx="5025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Visualization Challenge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8" name="Google Shape;248;p24"/>
          <p:cNvSpPr txBox="1"/>
          <p:nvPr/>
        </p:nvSpPr>
        <p:spPr>
          <a:xfrm>
            <a:off x="877500" y="4617000"/>
            <a:ext cx="4686300" cy="9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Initial graph </a:t>
            </a:r>
            <a:r>
              <a:rPr lang="en-US" sz="1500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appears</a:t>
            </a:r>
            <a:r>
              <a:rPr lang="en-US" sz="1500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 unstable (wobbly data)</a:t>
            </a:r>
            <a:endParaRPr sz="1500">
              <a:solidFill>
                <a:srgbClr val="64748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Improved by smoothing and using linear interpolation</a:t>
            </a:r>
            <a:endParaRPr sz="1500">
              <a:solidFill>
                <a:srgbClr val="64748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64748B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